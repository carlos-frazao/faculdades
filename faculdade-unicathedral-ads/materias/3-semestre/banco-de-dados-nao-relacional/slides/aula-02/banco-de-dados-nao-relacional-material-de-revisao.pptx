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44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6082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2.jpe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2.jpe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005" y="2309217"/>
            <a:ext cx="8897987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3300" b="1" kern="0" spc="2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BANCO DE DADOS NÃO RELACIONAL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123006" y="3035201"/>
            <a:ext cx="8897987" cy="310341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9469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Bancos de Dados XML Nativos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394817"/>
            <a:ext cx="128588" cy="20716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42963" y="1394817"/>
            <a:ext cx="3514725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Armazenamento Original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842963" y="1662708"/>
            <a:ext cx="35147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Projetados especificamente para armazenar dados XML sem necessidade de conversão ou mapeamento relacional.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288456"/>
            <a:ext cx="192881" cy="20716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07256" y="2288456"/>
            <a:ext cx="3450431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Preservação de Estrutura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907256" y="2556346"/>
            <a:ext cx="345043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Mantém a integridade da estrutura hierárquica e semiestruturada, essencial para documentos complexos.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182094"/>
            <a:ext cx="171450" cy="20716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85825" y="3182094"/>
            <a:ext cx="3471863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Consultas Eficientes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885825" y="3449985"/>
            <a:ext cx="3471863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Facilita a manipulação e extração de dados explorando a natureza nativa do formato XML.</a:t>
            </a:r>
            <a:endParaRPr lang="en-US" sz="950" dirty="0"/>
          </a:p>
        </p:txBody>
      </p:sp>
      <p:pic>
        <p:nvPicPr>
          <p:cNvPr id="19" name="Google Shape;9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103675" y="1601986"/>
            <a:ext cx="3146914" cy="2261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9469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Round-tripping e Linguagens XML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109067"/>
            <a:ext cx="8001000" cy="1009055"/>
          </a:xfrm>
          <a:prstGeom prst="rect">
            <a:avLst/>
          </a:prstGeom>
          <a:solidFill>
            <a:srgbClr val="F85149">
              <a:alpha val="10000"/>
            </a:srgbClr>
          </a:solidFill>
          <a:ln w="9144">
            <a:solidFill>
              <a:srgbClr val="F85149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435001"/>
            <a:ext cx="342900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43025" y="1323380"/>
            <a:ext cx="7015163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51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que é Round-tripping?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1343025" y="1625203"/>
            <a:ext cx="7015163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Capacidade de recuperar um documento XML exatamente como foi armazenado, sem perda de estrutura ou semântica. Essencial para garantir a integridade e autenticidade dos dados.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571500" y="2532459"/>
            <a:ext cx="3857625" cy="1829805"/>
          </a:xfrm>
          <a:prstGeom prst="rect">
            <a:avLst/>
          </a:prstGeom>
          <a:solidFill>
            <a:srgbClr val="58A6FF">
              <a:alpha val="5000"/>
            </a:srgbClr>
          </a:solidFill>
          <a:ln/>
        </p:spPr>
      </p:sp>
      <p:sp>
        <p:nvSpPr>
          <p:cNvPr id="9" name="Shape 5"/>
          <p:cNvSpPr/>
          <p:nvPr/>
        </p:nvSpPr>
        <p:spPr>
          <a:xfrm>
            <a:off x="571500" y="2532459"/>
            <a:ext cx="3857625" cy="28575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0" name="Text 6"/>
          <p:cNvSpPr/>
          <p:nvPr/>
        </p:nvSpPr>
        <p:spPr>
          <a:xfrm>
            <a:off x="785813" y="2746772"/>
            <a:ext cx="3429000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XPath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85813" y="3116461"/>
            <a:ext cx="34290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Linguagem padrão para navegar e selecionar nós em um documento XML. Funciona como um sistema de endereçamento.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785813" y="3840770"/>
            <a:ext cx="3429000" cy="27860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9"/>
          <p:cNvSpPr/>
          <p:nvPr/>
        </p:nvSpPr>
        <p:spPr>
          <a:xfrm>
            <a:off x="785813" y="3840770"/>
            <a:ext cx="3429000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EE78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/catalogo/produto[@id="101"]/preco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4714875" y="2532459"/>
            <a:ext cx="3857625" cy="1829805"/>
          </a:xfrm>
          <a:prstGeom prst="rect">
            <a:avLst/>
          </a:prstGeom>
          <a:solidFill>
            <a:srgbClr val="58A6FF">
              <a:alpha val="5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4714875" y="2532459"/>
            <a:ext cx="3857625" cy="28575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6" name="Text 12"/>
          <p:cNvSpPr/>
          <p:nvPr/>
        </p:nvSpPr>
        <p:spPr>
          <a:xfrm>
            <a:off x="4929188" y="2746772"/>
            <a:ext cx="3429000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XQuery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929188" y="3116461"/>
            <a:ext cx="34290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Linguagem poderosa para consultas complexas e construção de novas estruturas XML a partir de dados existentes.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929188" y="3840770"/>
            <a:ext cx="3429000" cy="27860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9" name="Text 15"/>
          <p:cNvSpPr/>
          <p:nvPr/>
        </p:nvSpPr>
        <p:spPr>
          <a:xfrm>
            <a:off x="4929188" y="3840770"/>
            <a:ext cx="3429000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EE78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for $x in doc("db.xml") return $x/title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9469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Classificações de XML Nativo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394817"/>
            <a:ext cx="2524116" cy="3214688"/>
          </a:xfrm>
          <a:prstGeom prst="rect">
            <a:avLst/>
          </a:prstGeom>
          <a:solidFill>
            <a:srgbClr val="58A6FF">
              <a:alpha val="3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394817"/>
            <a:ext cx="2524116" cy="28575"/>
          </a:xfrm>
          <a:prstGeom prst="rect">
            <a:avLst/>
          </a:prstGeom>
          <a:solidFill>
            <a:srgbClr val="58A6FF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810" y="1680567"/>
            <a:ext cx="321469" cy="4286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2323505"/>
            <a:ext cx="2524116" cy="425053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Centrado em Documentos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71500" y="2891433"/>
            <a:ext cx="2524116" cy="617153"/>
          </a:xfrm>
          <a:prstGeom prst="rect">
            <a:avLst/>
          </a:prstGeom>
          <a:noFill/>
          <a:ln/>
        </p:spPr>
        <p:txBody>
          <a:bodyPr wrap="square" lIns="255143" tIns="0" rIns="255143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Focado em conteúdo textual e estrutura flexível. Preserva a ordem e a mistura de marcação.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939487" y="3651461"/>
            <a:ext cx="1788142" cy="230386"/>
          </a:xfrm>
          <a:prstGeom prst="rect">
            <a:avLst/>
          </a:prstGeom>
          <a:solidFill>
            <a:srgbClr val="238636">
              <a:alpha val="20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939487" y="3651461"/>
            <a:ext cx="1788142" cy="230386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EE78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LIVROS, ARTIGOS, CONTRATOS</a:t>
            </a:r>
            <a:endParaRPr lang="en-US" sz="700" dirty="0"/>
          </a:p>
        </p:txBody>
      </p:sp>
      <p:sp>
        <p:nvSpPr>
          <p:cNvPr id="11" name="Shape 7"/>
          <p:cNvSpPr/>
          <p:nvPr/>
        </p:nvSpPr>
        <p:spPr>
          <a:xfrm>
            <a:off x="3309928" y="1394817"/>
            <a:ext cx="2524116" cy="3214688"/>
          </a:xfrm>
          <a:prstGeom prst="rect">
            <a:avLst/>
          </a:prstGeom>
          <a:solidFill>
            <a:srgbClr val="58A6FF">
              <a:alpha val="3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3309928" y="1394817"/>
            <a:ext cx="2524116" cy="28575"/>
          </a:xfrm>
          <a:prstGeom prst="rect">
            <a:avLst/>
          </a:prstGeom>
          <a:solidFill>
            <a:srgbClr val="58A6F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4449" y="1680567"/>
            <a:ext cx="375047" cy="4286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51839" y="2323505"/>
            <a:ext cx="2040294" cy="212527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Centrado em Dados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309928" y="2678906"/>
            <a:ext cx="2524116" cy="617153"/>
          </a:xfrm>
          <a:prstGeom prst="rect">
            <a:avLst/>
          </a:prstGeom>
          <a:noFill/>
          <a:ln/>
        </p:spPr>
        <p:txBody>
          <a:bodyPr wrap="square" lIns="255143" tIns="0" rIns="255143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 rígida e regular para aplicações de processamento automático de dados.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3764059" y="3438934"/>
            <a:ext cx="1615855" cy="230386"/>
          </a:xfrm>
          <a:prstGeom prst="rect">
            <a:avLst/>
          </a:prstGeom>
          <a:solidFill>
            <a:srgbClr val="238636">
              <a:alpha val="20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3764059" y="3438934"/>
            <a:ext cx="1615855" cy="230386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EE78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TRANSAÇÕES, CATÁLOGOS</a:t>
            </a:r>
            <a:endParaRPr lang="en-US" sz="700" dirty="0"/>
          </a:p>
        </p:txBody>
      </p:sp>
      <p:sp>
        <p:nvSpPr>
          <p:cNvPr id="18" name="Shape 13"/>
          <p:cNvSpPr/>
          <p:nvPr/>
        </p:nvSpPr>
        <p:spPr>
          <a:xfrm>
            <a:off x="6048356" y="1394817"/>
            <a:ext cx="2524144" cy="3214688"/>
          </a:xfrm>
          <a:prstGeom prst="rect">
            <a:avLst/>
          </a:prstGeom>
          <a:solidFill>
            <a:srgbClr val="58A6FF">
              <a:alpha val="3000"/>
            </a:srgbClr>
          </a:solidFill>
          <a:ln/>
        </p:spPr>
      </p:sp>
      <p:sp>
        <p:nvSpPr>
          <p:cNvPr id="19" name="Shape 14"/>
          <p:cNvSpPr/>
          <p:nvPr/>
        </p:nvSpPr>
        <p:spPr>
          <a:xfrm>
            <a:off x="6048356" y="1394817"/>
            <a:ext cx="2524144" cy="28575"/>
          </a:xfrm>
          <a:prstGeom prst="rect">
            <a:avLst/>
          </a:prstGeom>
          <a:solidFill>
            <a:srgbClr val="58A6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6116" y="1680567"/>
            <a:ext cx="428625" cy="4286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048356" y="2323505"/>
            <a:ext cx="2524144" cy="425053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Implementações Híbridas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048356" y="2891433"/>
            <a:ext cx="2524144" cy="617153"/>
          </a:xfrm>
          <a:prstGeom prst="rect">
            <a:avLst/>
          </a:prstGeom>
          <a:noFill/>
          <a:ln/>
        </p:spPr>
        <p:txBody>
          <a:bodyPr wrap="square" lIns="255143" tIns="0" rIns="255143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Mescla características de ambos, permitindo gerenciar partes estruturadas e textuais juntas.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6670951" y="3651461"/>
            <a:ext cx="1278927" cy="230386"/>
          </a:xfrm>
          <a:prstGeom prst="rect">
            <a:avLst/>
          </a:prstGeom>
          <a:solidFill>
            <a:srgbClr val="238636">
              <a:alpha val="20000"/>
            </a:srgbClr>
          </a:solidFill>
          <a:ln/>
        </p:spPr>
      </p:sp>
      <p:sp>
        <p:nvSpPr>
          <p:cNvPr id="24" name="Text 18"/>
          <p:cNvSpPr/>
          <p:nvPr/>
        </p:nvSpPr>
        <p:spPr>
          <a:xfrm>
            <a:off x="6670951" y="3651461"/>
            <a:ext cx="1278927" cy="230386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EE78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SISTEMAS FLEXÍVEIS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9469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Bancos Orientados a Conteúdo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4950" y="1394817"/>
            <a:ext cx="357188" cy="285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1823442"/>
            <a:ext cx="2524116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Mídias Digitais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571500" y="2077045"/>
            <a:ext cx="252411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Armazenamento otimizado para imagens, vídeos e áudios com seus respectivos metadados.</a:t>
            </a:r>
            <a:endParaRPr lang="en-US" sz="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9097" y="1394817"/>
            <a:ext cx="285750" cy="285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309928" y="1823442"/>
            <a:ext cx="2524116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ECM Corporativo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3309928" y="2077045"/>
            <a:ext cx="252411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de documentos, contratos e manuais em ambientes empresariais complexos.</a:t>
            </a:r>
            <a:endParaRPr lang="en-US" sz="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5413" y="1394817"/>
            <a:ext cx="250031" cy="2857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48356" y="1823442"/>
            <a:ext cx="2524144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Websites e Feeds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6048356" y="2077045"/>
            <a:ext cx="252414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Suporte a conteúdo dinâmico e interações de usuários em tempo real.</a:t>
            </a:r>
            <a:endParaRPr lang="en-US" sz="850" dirty="0"/>
          </a:p>
        </p:txBody>
      </p:sp>
      <p:sp>
        <p:nvSpPr>
          <p:cNvPr id="13" name="Shape 7"/>
          <p:cNvSpPr/>
          <p:nvPr/>
        </p:nvSpPr>
        <p:spPr>
          <a:xfrm>
            <a:off x="571500" y="2825688"/>
            <a:ext cx="8001000" cy="17216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4" name="Shape 8"/>
          <p:cNvSpPr/>
          <p:nvPr/>
        </p:nvSpPr>
        <p:spPr>
          <a:xfrm>
            <a:off x="571500" y="2825688"/>
            <a:ext cx="8001000" cy="7144"/>
          </a:xfrm>
          <a:prstGeom prst="rect">
            <a:avLst/>
          </a:prstGeom>
          <a:solidFill>
            <a:srgbClr val="DEEDFF"/>
          </a:solidFill>
          <a:ln/>
        </p:spPr>
      </p:sp>
      <p:sp>
        <p:nvSpPr>
          <p:cNvPr id="15" name="Text 9"/>
          <p:cNvSpPr/>
          <p:nvPr/>
        </p:nvSpPr>
        <p:spPr>
          <a:xfrm>
            <a:off x="571500" y="3348465"/>
            <a:ext cx="3857625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Arquitetura em Árvore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571500" y="3686008"/>
            <a:ext cx="385762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Organização hierárquica lógica similar a sistemas de arquivos (pastas e subpastas). Facilita a navegação intuitiva e otimiza consultas estruturais.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4714875" y="3111438"/>
            <a:ext cx="3857625" cy="1428750"/>
          </a:xfrm>
          <a:prstGeom prst="rect">
            <a:avLst/>
          </a:prstGeom>
          <a:solidFill>
            <a:srgbClr val="58A6FF">
              <a:alpha val="5000"/>
            </a:srgbClr>
          </a:solidFill>
          <a:ln/>
        </p:spPr>
      </p:sp>
      <p:sp>
        <p:nvSpPr>
          <p:cNvPr id="18" name="Text 12"/>
          <p:cNvSpPr/>
          <p:nvPr/>
        </p:nvSpPr>
        <p:spPr>
          <a:xfrm>
            <a:off x="5437789" y="3683831"/>
            <a:ext cx="522945" cy="283964"/>
          </a:xfrm>
          <a:prstGeom prst="rect">
            <a:avLst/>
          </a:prstGeom>
          <a:noFill/>
          <a:ln/>
        </p:spPr>
        <p:txBody>
          <a:bodyPr wrap="none" lIns="170053" tIns="85090" rIns="170053" bIns="8509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23863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Raiz</a:t>
            </a:r>
            <a:endParaRPr lang="en-US" sz="650" dirty="0"/>
          </a:p>
        </p:txBody>
      </p:sp>
      <p:sp>
        <p:nvSpPr>
          <p:cNvPr id="19" name="Text 13"/>
          <p:cNvSpPr/>
          <p:nvPr/>
        </p:nvSpPr>
        <p:spPr>
          <a:xfrm>
            <a:off x="6103609" y="3683831"/>
            <a:ext cx="690097" cy="283964"/>
          </a:xfrm>
          <a:prstGeom prst="rect">
            <a:avLst/>
          </a:prstGeom>
          <a:noFill/>
          <a:ln/>
        </p:spPr>
        <p:txBody>
          <a:bodyPr wrap="none" lIns="170053" tIns="85090" rIns="170053" bIns="8509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23863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Pasta A</a:t>
            </a:r>
            <a:endParaRPr lang="en-US" sz="650" dirty="0"/>
          </a:p>
        </p:txBody>
      </p:sp>
      <p:sp>
        <p:nvSpPr>
          <p:cNvPr id="20" name="Text 14"/>
          <p:cNvSpPr/>
          <p:nvPr/>
        </p:nvSpPr>
        <p:spPr>
          <a:xfrm>
            <a:off x="6936581" y="3683831"/>
            <a:ext cx="912977" cy="283964"/>
          </a:xfrm>
          <a:prstGeom prst="rect">
            <a:avLst/>
          </a:prstGeom>
          <a:noFill/>
          <a:ln/>
        </p:spPr>
        <p:txBody>
          <a:bodyPr wrap="none" lIns="170053" tIns="85090" rIns="170053" bIns="8509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23863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Arquivo.pdf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9469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Motores de Busca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1209" y="1609130"/>
            <a:ext cx="321469" cy="285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69430" y="2252067"/>
            <a:ext cx="845027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Crawlers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1041788" y="2589609"/>
            <a:ext cx="250031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Programas que varrem a web ou fontes de dados seguindo links para descobrir e coletar informações continuamente.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2675" y="1621631"/>
            <a:ext cx="178594" cy="285750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6985" y="1609130"/>
            <a:ext cx="250031" cy="2857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362821" y="2252067"/>
            <a:ext cx="978359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Indexação</a:t>
            </a:r>
            <a:endParaRPr lang="en-US" sz="1400" dirty="0"/>
          </a:p>
        </p:txBody>
      </p:sp>
      <p:sp>
        <p:nvSpPr>
          <p:cNvPr id="10" name="Text 4"/>
          <p:cNvSpPr/>
          <p:nvPr/>
        </p:nvSpPr>
        <p:spPr>
          <a:xfrm>
            <a:off x="5601844" y="2589609"/>
            <a:ext cx="250031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Processamento e armazenamento do conteúdo em índices para permitir buscas rápidas e cálculos de relevância.</a:t>
            </a:r>
            <a:endParaRPr lang="en-US" sz="950" dirty="0"/>
          </a:p>
        </p:txBody>
      </p:sp>
      <p:sp>
        <p:nvSpPr>
          <p:cNvPr id="11" name="Shape 5"/>
          <p:cNvSpPr/>
          <p:nvPr/>
        </p:nvSpPr>
        <p:spPr>
          <a:xfrm>
            <a:off x="571500" y="3635387"/>
            <a:ext cx="8001000" cy="1009055"/>
          </a:xfrm>
          <a:prstGeom prst="rect">
            <a:avLst/>
          </a:prstGeom>
          <a:solidFill>
            <a:srgbClr val="238636">
              <a:alpha val="10000"/>
            </a:srgbClr>
          </a:solidFill>
          <a:ln w="9144">
            <a:solidFill>
              <a:srgbClr val="238636"/>
            </a:solidFill>
            <a:prstDash val="solid"/>
          </a:ln>
        </p:spPr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813" y="3961321"/>
            <a:ext cx="257175" cy="3429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257300" y="3849700"/>
            <a:ext cx="7100888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3863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ElasticSearch</a:t>
            </a:r>
            <a:endParaRPr lang="en-US" sz="1400" dirty="0"/>
          </a:p>
        </p:txBody>
      </p:sp>
      <p:sp>
        <p:nvSpPr>
          <p:cNvPr id="14" name="Text 7"/>
          <p:cNvSpPr/>
          <p:nvPr/>
        </p:nvSpPr>
        <p:spPr>
          <a:xfrm>
            <a:off x="1257300" y="4151523"/>
            <a:ext cx="7100888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Motor de busca distribuído e analítico em tempo real. Suporta documentos JSON e é altamente escalável, sendo ideal para pesquisa full-text e análise de logs.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787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9469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Modelos de Busca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251942"/>
            <a:ext cx="3857625" cy="2055168"/>
          </a:xfrm>
          <a:prstGeom prst="rect">
            <a:avLst/>
          </a:prstGeom>
          <a:solidFill>
            <a:srgbClr val="58A6FF">
              <a:alpha val="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251942"/>
            <a:ext cx="3857625" cy="28575"/>
          </a:xfrm>
          <a:prstGeom prst="rect">
            <a:avLst/>
          </a:prstGeom>
          <a:solidFill>
            <a:srgbClr val="58A6FF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481435"/>
            <a:ext cx="225028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17997" y="1466255"/>
            <a:ext cx="1666810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Modelo Booleano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85813" y="1839516"/>
            <a:ext cx="34290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Baseado em lógica matemática e operadores (AND, OR, NOT).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785813" y="2358107"/>
            <a:ext cx="34290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resultados são </a:t>
            </a:r>
            <a:r>
              <a:rPr lang="en-US" sz="900" b="1" dirty="0">
                <a:solidFill>
                  <a:srgbClr val="C9D1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binários</a:t>
            </a: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o documento é relevante ou não é relevante.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785813" y="2876699"/>
            <a:ext cx="1004925" cy="187523"/>
          </a:xfrm>
          <a:prstGeom prst="rect">
            <a:avLst/>
          </a:prstGeom>
          <a:solidFill>
            <a:srgbClr val="58A6FF">
              <a:alpha val="2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785813" y="2876699"/>
            <a:ext cx="1004925" cy="187523"/>
          </a:xfrm>
          <a:prstGeom prst="rect">
            <a:avLst/>
          </a:prstGeom>
          <a:noFill/>
          <a:ln/>
        </p:spPr>
        <p:txBody>
          <a:bodyPr wrap="none" lIns="102108" tIns="42545" rIns="102108" bIns="42545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SEM GRADAÇÃO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1893931" y="2876699"/>
            <a:ext cx="506760" cy="187523"/>
          </a:xfrm>
          <a:prstGeom prst="rect">
            <a:avLst/>
          </a:prstGeom>
          <a:solidFill>
            <a:srgbClr val="58A6FF">
              <a:alpha val="20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1893931" y="2876699"/>
            <a:ext cx="506760" cy="187523"/>
          </a:xfrm>
          <a:prstGeom prst="rect">
            <a:avLst/>
          </a:prstGeom>
          <a:noFill/>
          <a:ln/>
        </p:spPr>
        <p:txBody>
          <a:bodyPr wrap="none" lIns="102108" tIns="42545" rIns="102108" bIns="42545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EXATO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4714875" y="1251942"/>
            <a:ext cx="3857625" cy="2055168"/>
          </a:xfrm>
          <a:prstGeom prst="rect">
            <a:avLst/>
          </a:prstGeom>
          <a:solidFill>
            <a:srgbClr val="58A6FF">
              <a:alpha val="5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4714875" y="1251942"/>
            <a:ext cx="3857625" cy="28575"/>
          </a:xfrm>
          <a:prstGeom prst="rect">
            <a:avLst/>
          </a:prstGeom>
          <a:solidFill>
            <a:srgbClr val="58A6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1481435"/>
            <a:ext cx="200025" cy="2000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36369" y="1466255"/>
            <a:ext cx="2078189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Modelo Probabilístico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929188" y="1839516"/>
            <a:ext cx="34290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 a probabilidade de um documento ser útil para o usuário.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929188" y="2358107"/>
            <a:ext cx="34290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 o </a:t>
            </a:r>
            <a:r>
              <a:rPr lang="en-US" sz="900" b="1" dirty="0">
                <a:solidFill>
                  <a:srgbClr val="C9D1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ranqueamento</a:t>
            </a: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dos resultados por pontuação de relevância.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929188" y="2876699"/>
            <a:ext cx="817820" cy="187523"/>
          </a:xfrm>
          <a:prstGeom prst="rect">
            <a:avLst/>
          </a:prstGeom>
          <a:solidFill>
            <a:srgbClr val="238636">
              <a:alpha val="20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4929188" y="2876699"/>
            <a:ext cx="817820" cy="187523"/>
          </a:xfrm>
          <a:prstGeom prst="rect">
            <a:avLst/>
          </a:prstGeom>
          <a:noFill/>
          <a:ln/>
        </p:spPr>
        <p:txBody>
          <a:bodyPr wrap="none" lIns="102108" tIns="42545" rIns="102108" bIns="42545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3863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ESTATÍSTICO</a:t>
            </a:r>
            <a:endParaRPr lang="en-US" sz="700" dirty="0"/>
          </a:p>
        </p:txBody>
      </p:sp>
      <p:sp>
        <p:nvSpPr>
          <p:cNvPr id="22" name="Shape 17"/>
          <p:cNvSpPr/>
          <p:nvPr/>
        </p:nvSpPr>
        <p:spPr>
          <a:xfrm>
            <a:off x="5850201" y="2876699"/>
            <a:ext cx="827112" cy="187523"/>
          </a:xfrm>
          <a:prstGeom prst="rect">
            <a:avLst/>
          </a:prstGeom>
          <a:solidFill>
            <a:srgbClr val="238636">
              <a:alpha val="2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5850201" y="2876699"/>
            <a:ext cx="827112" cy="187523"/>
          </a:xfrm>
          <a:prstGeom prst="rect">
            <a:avLst/>
          </a:prstGeom>
          <a:noFill/>
          <a:ln/>
        </p:spPr>
        <p:txBody>
          <a:bodyPr wrap="none" lIns="102108" tIns="42545" rIns="102108" bIns="42545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3863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RANQUEADO</a:t>
            </a:r>
            <a:endParaRPr lang="en-US" sz="700" dirty="0"/>
          </a:p>
        </p:txBody>
      </p:sp>
      <p:sp>
        <p:nvSpPr>
          <p:cNvPr id="24" name="Text 19"/>
          <p:cNvSpPr/>
          <p:nvPr/>
        </p:nvSpPr>
        <p:spPr>
          <a:xfrm>
            <a:off x="571500" y="3707160"/>
            <a:ext cx="80010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1" dirty="0">
                <a:solidFill>
                  <a:srgbClr val="C9D1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TIPOS DE MOTORES DE BUSCA</a:t>
            </a:r>
            <a:endParaRPr lang="en-US" sz="12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4500" y="4196507"/>
            <a:ext cx="285750" cy="2286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21519" y="4532263"/>
            <a:ext cx="227171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Por Rastreador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721519" y="4768007"/>
            <a:ext cx="227171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 de crawlers para descoberta automática e contínua.</a:t>
            </a:r>
            <a:endParaRPr lang="en-US" sz="75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9125" y="4196507"/>
            <a:ext cx="285750" cy="2286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436144" y="4532263"/>
            <a:ext cx="227171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Manuais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3436144" y="4768007"/>
            <a:ext cx="227171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Dependem de intervenção humana para indexação.</a:t>
            </a:r>
            <a:endParaRPr lang="en-US" sz="75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2325" y="4196507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150769" y="4532263"/>
            <a:ext cx="227171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Híbridos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6150769" y="4768007"/>
            <a:ext cx="227171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Combinam automação com curadoria humana específica.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9469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Bancos de Dados de Séries Temporais (TSDB)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51942"/>
            <a:ext cx="171450" cy="63936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85825" y="1251942"/>
            <a:ext cx="35433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Indexação por Tempo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885825" y="1505545"/>
            <a:ext cx="35433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entrada é associada a um carimbo de data/hora (timestamp), otimizando a análise de tendências.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105620"/>
            <a:ext cx="171450" cy="63936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5825" y="2105620"/>
            <a:ext cx="35433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Aplicações em IoT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885825" y="2359223"/>
            <a:ext cx="35433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Ideal para sensores que geram fluxos contínuos de dados em tempo real e monitoramento de infraestrutura.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959298"/>
            <a:ext cx="128588" cy="63936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42963" y="2959298"/>
            <a:ext cx="3586163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Alta Performance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842963" y="3212902"/>
            <a:ext cx="35861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Projetados para ingestão massiva de dados e consultas analíticas rápidas sobre intervalos temporais.</a:t>
            </a:r>
            <a:endParaRPr lang="en-US" sz="950" dirty="0"/>
          </a:p>
        </p:txBody>
      </p:sp>
      <p:sp>
        <p:nvSpPr>
          <p:cNvPr id="13" name="Shape 7"/>
          <p:cNvSpPr/>
          <p:nvPr/>
        </p:nvSpPr>
        <p:spPr>
          <a:xfrm>
            <a:off x="571500" y="3955852"/>
            <a:ext cx="1230399" cy="246459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14" name="Text 8"/>
          <p:cNvSpPr/>
          <p:nvPr/>
        </p:nvSpPr>
        <p:spPr>
          <a:xfrm>
            <a:off x="571500" y="3955852"/>
            <a:ext cx="1230399" cy="246459"/>
          </a:xfrm>
          <a:prstGeom prst="rect">
            <a:avLst/>
          </a:prstGeom>
          <a:noFill/>
          <a:ln/>
        </p:spPr>
        <p:txBody>
          <a:bodyPr wrap="none" lIns="127508" tIns="68072" rIns="127508" bIns="68072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Exemplo: InfluxDB</a:t>
            </a:r>
            <a:endParaRPr lang="en-US" sz="800" dirty="0"/>
          </a:p>
        </p:txBody>
      </p:sp>
      <p:sp>
        <p:nvSpPr>
          <p:cNvPr id="15" name="Shape 9"/>
          <p:cNvSpPr/>
          <p:nvPr/>
        </p:nvSpPr>
        <p:spPr>
          <a:xfrm>
            <a:off x="4714875" y="1251942"/>
            <a:ext cx="3857625" cy="3202186"/>
          </a:xfrm>
          <a:prstGeom prst="rect">
            <a:avLst/>
          </a:prstGeom>
          <a:solidFill>
            <a:srgbClr val="58A6FF">
              <a:alpha val="5000"/>
            </a:srgbClr>
          </a:solidFill>
          <a:ln w="9144">
            <a:solidFill>
              <a:srgbClr val="58A6FF">
                <a:alpha val="20000"/>
              </a:srgbClr>
            </a:solidFill>
            <a:prstDash val="solid"/>
          </a:ln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9188" y="1466255"/>
            <a:ext cx="3414713" cy="250031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29188" y="4109442"/>
            <a:ext cx="3429000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Visualização de Métricas Temporais (Exemplo Conceitual)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9469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Migração: Relacional para NoSQL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180505"/>
            <a:ext cx="4169327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ETAPAS PRINCIPAIS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71500" y="1591270"/>
            <a:ext cx="4169327" cy="410766"/>
          </a:xfrm>
          <a:prstGeom prst="rect">
            <a:avLst/>
          </a:prstGeom>
          <a:solidFill>
            <a:srgbClr val="C9D1D9">
              <a:alpha val="3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591270"/>
            <a:ext cx="28575" cy="410766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7" name="Text 4"/>
          <p:cNvSpPr/>
          <p:nvPr/>
        </p:nvSpPr>
        <p:spPr>
          <a:xfrm>
            <a:off x="678656" y="1698427"/>
            <a:ext cx="214313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3863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35844" y="1723430"/>
            <a:ext cx="2659038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D1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Backup:</a:t>
            </a: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Etapa indispensável para segurança.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71500" y="2144911"/>
            <a:ext cx="4169327" cy="410766"/>
          </a:xfrm>
          <a:prstGeom prst="rect">
            <a:avLst/>
          </a:prstGeom>
          <a:solidFill>
            <a:srgbClr val="C9D1D9">
              <a:alpha val="3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" y="2144911"/>
            <a:ext cx="28575" cy="410766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11" name="Text 8"/>
          <p:cNvSpPr/>
          <p:nvPr/>
        </p:nvSpPr>
        <p:spPr>
          <a:xfrm>
            <a:off x="678656" y="2252067"/>
            <a:ext cx="214313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3863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35844" y="2277070"/>
            <a:ext cx="2744372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D1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Mapeamento:</a:t>
            </a: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Evitar incompatibilidade de tipos.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71500" y="2698552"/>
            <a:ext cx="4169327" cy="410766"/>
          </a:xfrm>
          <a:prstGeom prst="rect">
            <a:avLst/>
          </a:prstGeom>
          <a:solidFill>
            <a:srgbClr val="C9D1D9">
              <a:alpha val="3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71500" y="2698552"/>
            <a:ext cx="28575" cy="410766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15" name="Text 12"/>
          <p:cNvSpPr/>
          <p:nvPr/>
        </p:nvSpPr>
        <p:spPr>
          <a:xfrm>
            <a:off x="678656" y="2805708"/>
            <a:ext cx="214313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3863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35844" y="2830711"/>
            <a:ext cx="269450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D1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Modelagem:</a:t>
            </a: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Redesenhar estrutura no destino.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71500" y="3252192"/>
            <a:ext cx="4169327" cy="410766"/>
          </a:xfrm>
          <a:prstGeom prst="rect">
            <a:avLst/>
          </a:prstGeom>
          <a:solidFill>
            <a:srgbClr val="C9D1D9">
              <a:alpha val="3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571500" y="3252192"/>
            <a:ext cx="28575" cy="410766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19" name="Text 16"/>
          <p:cNvSpPr/>
          <p:nvPr/>
        </p:nvSpPr>
        <p:spPr>
          <a:xfrm>
            <a:off x="678656" y="3359348"/>
            <a:ext cx="214313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3863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35844" y="3384352"/>
            <a:ext cx="329991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D1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Carga e Validação:</a:t>
            </a: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Testes de integridade e performance.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098014" y="1180505"/>
            <a:ext cx="3474458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MÉTODOS DE EXECUÇÃO</a:t>
            </a:r>
            <a:endParaRPr lang="en-US" sz="12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3752" y="1789509"/>
            <a:ext cx="117872" cy="157163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473061" y="1777008"/>
            <a:ext cx="128364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Migração Off-line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283752" y="2030611"/>
            <a:ext cx="310298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Aplicação é parada durante o processo. Mais simples, porém gera indisponibilidade.</a:t>
            </a:r>
            <a:endParaRPr lang="en-US" sz="85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3752" y="2971800"/>
            <a:ext cx="196453" cy="157163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551643" y="2959298"/>
            <a:ext cx="127496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Migração On-line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5283752" y="3212902"/>
            <a:ext cx="310298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Sincronização contínua com a aplicação ativa. Complexa, mas minimiza o downtime.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5098014" y="3955852"/>
            <a:ext cx="3474458" cy="460772"/>
          </a:xfrm>
          <a:prstGeom prst="rect">
            <a:avLst/>
          </a:prstGeom>
          <a:solidFill>
            <a:srgbClr val="F85149">
              <a:alpha val="10000"/>
            </a:srgbClr>
          </a:solidFill>
          <a:ln w="9144">
            <a:solidFill>
              <a:srgbClr val="F85149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5171" y="4129088"/>
            <a:ext cx="100013" cy="100013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376621" y="4063008"/>
            <a:ext cx="3088695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semântica dos dados no NoSQL não é garantida automaticamente pelo SGBD.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9469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Critérios de Escolha de SGBD NoSQL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394817"/>
            <a:ext cx="2524116" cy="3214688"/>
          </a:xfrm>
          <a:prstGeom prst="rect">
            <a:avLst/>
          </a:prstGeom>
          <a:solidFill>
            <a:srgbClr val="58A6FF">
              <a:alpha val="3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394817"/>
            <a:ext cx="2524116" cy="28575"/>
          </a:xfrm>
          <a:prstGeom prst="rect">
            <a:avLst/>
          </a:prstGeom>
          <a:solidFill>
            <a:srgbClr val="58A6FF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0302" y="1680567"/>
            <a:ext cx="446484" cy="3571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0730" y="2252067"/>
            <a:ext cx="1985656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300" b="1" kern="0" spc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FATORES TÉCNICOS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2643188"/>
            <a:ext cx="128588" cy="15716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21556" y="2643188"/>
            <a:ext cx="1859747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Natureza do dado e tipo de análise desejada.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3146096"/>
            <a:ext cx="128588" cy="15716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21556" y="3146096"/>
            <a:ext cx="1859747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Desempenho e escalabilidade horizontal.</a:t>
            </a:r>
            <a:endParaRPr lang="en-US" sz="9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813" y="3649005"/>
            <a:ext cx="128588" cy="15716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21556" y="3649005"/>
            <a:ext cx="1859747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Administração e alta disponibilidade.</a:t>
            </a:r>
            <a:endParaRPr lang="en-US" sz="950" dirty="0"/>
          </a:p>
        </p:txBody>
      </p:sp>
      <p:sp>
        <p:nvSpPr>
          <p:cNvPr id="14" name="Shape 7"/>
          <p:cNvSpPr/>
          <p:nvPr/>
        </p:nvSpPr>
        <p:spPr>
          <a:xfrm>
            <a:off x="3309928" y="1394817"/>
            <a:ext cx="2524116" cy="3214688"/>
          </a:xfrm>
          <a:prstGeom prst="rect">
            <a:avLst/>
          </a:prstGeom>
          <a:solidFill>
            <a:srgbClr val="58A6FF">
              <a:alpha val="3000"/>
            </a:srgbClr>
          </a:solidFill>
          <a:ln/>
        </p:spPr>
      </p:sp>
      <p:sp>
        <p:nvSpPr>
          <p:cNvPr id="15" name="Shape 8"/>
          <p:cNvSpPr/>
          <p:nvPr/>
        </p:nvSpPr>
        <p:spPr>
          <a:xfrm>
            <a:off x="3309928" y="1394817"/>
            <a:ext cx="2524116" cy="28575"/>
          </a:xfrm>
          <a:prstGeom prst="rect">
            <a:avLst/>
          </a:prstGeom>
          <a:solidFill>
            <a:srgbClr val="58A6FF"/>
          </a:solidFill>
          <a:ln/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1054" y="1680567"/>
            <a:ext cx="401836" cy="35718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3636141" y="2252067"/>
            <a:ext cx="1871663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300" b="1" kern="0" spc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ORGANIZACIONAIS</a:t>
            </a:r>
            <a:endParaRPr lang="en-US" sz="13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24241" y="2643188"/>
            <a:ext cx="128588" cy="157163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3759984" y="2643188"/>
            <a:ext cx="1859747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Reputação do fornecedor e suporte técnico.</a:t>
            </a:r>
            <a:endParaRPr lang="en-US" sz="95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24241" y="3146096"/>
            <a:ext cx="128588" cy="157163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3759984" y="3146096"/>
            <a:ext cx="1859747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Cultura organizacional e apetite ao risco.</a:t>
            </a:r>
            <a:endParaRPr lang="en-US" sz="95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24241" y="3649005"/>
            <a:ext cx="128588" cy="157163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3759984" y="3649005"/>
            <a:ext cx="1859747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Experiência da equipe técnica envolvida.</a:t>
            </a:r>
            <a:endParaRPr lang="en-US" sz="950" dirty="0"/>
          </a:p>
        </p:txBody>
      </p:sp>
      <p:sp>
        <p:nvSpPr>
          <p:cNvPr id="24" name="Shape 13"/>
          <p:cNvSpPr/>
          <p:nvPr/>
        </p:nvSpPr>
        <p:spPr>
          <a:xfrm>
            <a:off x="6048356" y="1394817"/>
            <a:ext cx="2524144" cy="3214688"/>
          </a:xfrm>
          <a:prstGeom prst="rect">
            <a:avLst/>
          </a:prstGeom>
          <a:solidFill>
            <a:srgbClr val="58A6FF">
              <a:alpha val="3000"/>
            </a:srgbClr>
          </a:solidFill>
          <a:ln/>
        </p:spPr>
      </p:sp>
      <p:sp>
        <p:nvSpPr>
          <p:cNvPr id="25" name="Shape 14"/>
          <p:cNvSpPr/>
          <p:nvPr/>
        </p:nvSpPr>
        <p:spPr>
          <a:xfrm>
            <a:off x="6048356" y="1394817"/>
            <a:ext cx="2524144" cy="28575"/>
          </a:xfrm>
          <a:prstGeom prst="rect">
            <a:avLst/>
          </a:prstGeom>
          <a:solidFill>
            <a:srgbClr val="58A6FF"/>
          </a:solidFill>
          <a:ln/>
        </p:spPr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09510" y="1680567"/>
            <a:ext cx="401836" cy="357188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6846838" y="2252067"/>
            <a:ext cx="927181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300" b="1" kern="0" spc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NEGÓCIO</a:t>
            </a:r>
            <a:endParaRPr lang="en-US" sz="13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62669" y="2643188"/>
            <a:ext cx="128588" cy="157163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6498413" y="2643188"/>
            <a:ext cx="18597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 total de propriedade (TCO) e licenças.</a:t>
            </a:r>
            <a:endParaRPr lang="en-US" sz="950" dirty="0"/>
          </a:p>
        </p:txBody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62669" y="3146096"/>
            <a:ext cx="128588" cy="157163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6498413" y="3146096"/>
            <a:ext cx="18597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Alinhamento com a visão de inovação.</a:t>
            </a:r>
            <a:endParaRPr lang="en-US" sz="950" dirty="0"/>
          </a:p>
        </p:txBody>
      </p:sp>
      <p:pic>
        <p:nvPicPr>
          <p:cNvPr id="32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62669" y="3649005"/>
            <a:ext cx="128588" cy="157163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6498413" y="3649005"/>
            <a:ext cx="18597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Riscos associados à adoção da tecnologia.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9469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Bancos Orientados a Objetos e Multivalores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0" y="1251942"/>
            <a:ext cx="9144000" cy="3891558"/>
          </a:xfrm>
          <a:prstGeom prst="rect">
            <a:avLst/>
          </a:prstGeom>
          <a:solidFill>
            <a:srgbClr val="C9D1D9">
              <a:alpha val="1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1251942"/>
            <a:ext cx="4564856" cy="3891558"/>
          </a:xfrm>
          <a:prstGeom prst="rect">
            <a:avLst/>
          </a:prstGeom>
          <a:solidFill>
            <a:srgbClr val="0D1117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37692"/>
            <a:ext cx="321469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35844" y="1549301"/>
            <a:ext cx="2311896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Orientados a Objetos</a:t>
            </a:r>
            <a:endParaRPr lang="en-US" sz="1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037755"/>
            <a:ext cx="142875" cy="41143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1531" y="2037755"/>
            <a:ext cx="31718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Armazenam dados como objetos, eliminando o mapeamento objeto-relacional (ORM).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627784"/>
            <a:ext cx="142875" cy="41143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1531" y="2627784"/>
            <a:ext cx="31718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Suportam conceitos nativos de POO como </a:t>
            </a:r>
            <a:r>
              <a:rPr lang="en-US" sz="900" b="1" dirty="0">
                <a:solidFill>
                  <a:srgbClr val="C9D1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herança</a:t>
            </a: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polimorfismo.</a:t>
            </a:r>
            <a:endParaRPr lang="en-US" sz="9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217813"/>
            <a:ext cx="142875" cy="41143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21531" y="3217813"/>
            <a:ext cx="31718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Leitura e gravação mais diretas para desenvolvedores de software.</a:t>
            </a:r>
            <a:endParaRPr lang="en-US" sz="950" dirty="0"/>
          </a:p>
        </p:txBody>
      </p:sp>
      <p:sp>
        <p:nvSpPr>
          <p:cNvPr id="14" name="Shape 7"/>
          <p:cNvSpPr/>
          <p:nvPr/>
        </p:nvSpPr>
        <p:spPr>
          <a:xfrm>
            <a:off x="571500" y="3807842"/>
            <a:ext cx="3421856" cy="364331"/>
          </a:xfrm>
          <a:prstGeom prst="rect">
            <a:avLst/>
          </a:prstGeom>
          <a:solidFill>
            <a:srgbClr val="58A6FF">
              <a:alpha val="5000"/>
            </a:srgbClr>
          </a:solidFill>
          <a:ln w="9144">
            <a:solidFill>
              <a:srgbClr val="58A6FF">
                <a:alpha val="30000"/>
              </a:srgbClr>
            </a:solidFill>
            <a:prstDash val="dash"/>
          </a:ln>
        </p:spPr>
      </p:sp>
      <p:sp>
        <p:nvSpPr>
          <p:cNvPr id="15" name="Text 8"/>
          <p:cNvSpPr/>
          <p:nvPr/>
        </p:nvSpPr>
        <p:spPr>
          <a:xfrm>
            <a:off x="571500" y="3807842"/>
            <a:ext cx="3421856" cy="36433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C9D1D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Exemplos: Actian, Objectivity</a:t>
            </a:r>
            <a:endParaRPr lang="en-US" sz="750" dirty="0"/>
          </a:p>
        </p:txBody>
      </p:sp>
      <p:sp>
        <p:nvSpPr>
          <p:cNvPr id="16" name="Shape 9"/>
          <p:cNvSpPr/>
          <p:nvPr/>
        </p:nvSpPr>
        <p:spPr>
          <a:xfrm>
            <a:off x="4579144" y="1251942"/>
            <a:ext cx="4564856" cy="3891558"/>
          </a:xfrm>
          <a:prstGeom prst="rect">
            <a:avLst/>
          </a:prstGeom>
          <a:solidFill>
            <a:srgbClr val="0D1117"/>
          </a:solidFill>
          <a:ln/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0644" y="1537692"/>
            <a:ext cx="321469" cy="28575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614988" y="1549301"/>
            <a:ext cx="1333872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8A6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Multivalores</a:t>
            </a:r>
            <a:endParaRPr lang="en-US" sz="16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0644" y="2037755"/>
            <a:ext cx="142875" cy="411435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400675" y="2037755"/>
            <a:ext cx="31718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Permitem que um único atributo armazene múltiplos valores (listas ou conjuntos).</a:t>
            </a:r>
            <a:endParaRPr lang="en-US" sz="95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0644" y="2627784"/>
            <a:ext cx="142875" cy="411435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400675" y="2627784"/>
            <a:ext cx="31718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Flexibilidade extrema para dados que não são naturalmente atômicos.</a:t>
            </a:r>
            <a:endParaRPr lang="en-US" sz="95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0644" y="3217813"/>
            <a:ext cx="142875" cy="411435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400675" y="3217813"/>
            <a:ext cx="31718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Úteis em cadeias de suprimentos e sistemas de documentos complexos.</a:t>
            </a:r>
            <a:endParaRPr lang="en-US" sz="950" dirty="0"/>
          </a:p>
        </p:txBody>
      </p:sp>
      <p:sp>
        <p:nvSpPr>
          <p:cNvPr id="25" name="Shape 14"/>
          <p:cNvSpPr/>
          <p:nvPr/>
        </p:nvSpPr>
        <p:spPr>
          <a:xfrm>
            <a:off x="5150644" y="3807842"/>
            <a:ext cx="3421856" cy="364331"/>
          </a:xfrm>
          <a:prstGeom prst="rect">
            <a:avLst/>
          </a:prstGeom>
          <a:solidFill>
            <a:srgbClr val="58A6FF">
              <a:alpha val="5000"/>
            </a:srgbClr>
          </a:solidFill>
          <a:ln w="9144">
            <a:solidFill>
              <a:srgbClr val="58A6FF">
                <a:alpha val="30000"/>
              </a:srgbClr>
            </a:solidFill>
            <a:prstDash val="dash"/>
          </a:ln>
        </p:spPr>
      </p:sp>
      <p:sp>
        <p:nvSpPr>
          <p:cNvPr id="26" name="Text 15"/>
          <p:cNvSpPr/>
          <p:nvPr/>
        </p:nvSpPr>
        <p:spPr>
          <a:xfrm>
            <a:off x="5150644" y="3807842"/>
            <a:ext cx="3421856" cy="36433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C9D1D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Atributo: Fornecedores ["A", "B", "C"]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800</Words>
  <Application>Microsoft Office PowerPoint</Application>
  <PresentationFormat>Apresentação na tela (16:9)</PresentationFormat>
  <Paragraphs>124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Arial</vt:lpstr>
      <vt:lpstr>Calibri</vt:lpstr>
      <vt:lpstr>Inter</vt:lpstr>
      <vt:lpstr>Inter Bold</vt:lpstr>
      <vt:lpstr>monospace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SECINFOR - AUX 01</cp:lastModifiedBy>
  <cp:revision>3</cp:revision>
  <dcterms:created xsi:type="dcterms:W3CDTF">2026-05-26T17:13:04Z</dcterms:created>
  <dcterms:modified xsi:type="dcterms:W3CDTF">2026-05-26T17:25:49Z</dcterms:modified>
</cp:coreProperties>
</file>