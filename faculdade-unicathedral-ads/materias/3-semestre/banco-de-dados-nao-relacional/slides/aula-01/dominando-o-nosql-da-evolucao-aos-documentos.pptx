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92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929832"/>
            <a:ext cx="7315200" cy="32838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929832"/>
            <a:ext cx="731520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693348"/>
            <a:ext cx="73152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2A43"/>
                </a:solidFill>
              </a:rPr>
              <a:t>Dominando o NoSQL:
Da Evolução aos Documentos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714500" y="3027778"/>
            <a:ext cx="5715000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1704" dirty="0" err="1" smtClean="0">
                <a:solidFill>
                  <a:srgbClr val="334E68"/>
                </a:solidFill>
              </a:rPr>
              <a:t>Conceitos</a:t>
            </a:r>
            <a:r>
              <a:rPr lang="en-US" sz="1704" dirty="0">
                <a:solidFill>
                  <a:srgbClr val="334E68"/>
                </a:solidFill>
              </a:rPr>
              <a:t>, Classificações e Aplicações Modernas</a:t>
            </a:r>
            <a:endParaRPr lang="en-US" sz="1704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704" y="3818948"/>
            <a:ext cx="126802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96506" y="3795731"/>
            <a:ext cx="26777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0F766E"/>
                </a:solidFill>
              </a:rPr>
              <a:t>Guia Completo para Iniciantes</a:t>
            </a:r>
            <a:endParaRPr lang="en-US" sz="88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</a:rPr>
              <a:t>Por que o NoSQL surgiu?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037630"/>
            <a:ext cx="3714750" cy="44827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1037630"/>
            <a:ext cx="3714750" cy="448270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O Desafio do SQL Tradicional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642938" y="1485900"/>
            <a:ext cx="3714750" cy="27146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43088"/>
            <a:ext cx="171450" cy="2071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4419" y="1843088"/>
            <a:ext cx="31503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</a:rPr>
              <a:t>Limites de Rigidez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1064419" y="2185988"/>
            <a:ext cx="31503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Dificuldade em alterar esquemas de tabelas em sistemas em produção com bilhões de registros.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817484"/>
            <a:ext cx="171450" cy="2071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4419" y="2817484"/>
            <a:ext cx="31503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</a:rPr>
              <a:t>Escalabilidade Vertical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1064419" y="3160384"/>
            <a:ext cx="31503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Custo altíssimo para aumentar o poder de um único servidor (CPU/RAM) infinitamente.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4786313" y="1037630"/>
            <a:ext cx="3714750" cy="44827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4" name="Text 9"/>
          <p:cNvSpPr/>
          <p:nvPr/>
        </p:nvSpPr>
        <p:spPr>
          <a:xfrm>
            <a:off x="4786313" y="1037630"/>
            <a:ext cx="3714750" cy="448270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 Resposta do NoSQL</a:t>
            </a:r>
            <a:endParaRPr lang="en-US" sz="1193" dirty="0"/>
          </a:p>
        </p:txBody>
      </p:sp>
      <p:sp>
        <p:nvSpPr>
          <p:cNvPr id="15" name="Shape 10"/>
          <p:cNvSpPr/>
          <p:nvPr/>
        </p:nvSpPr>
        <p:spPr>
          <a:xfrm>
            <a:off x="4786313" y="1485900"/>
            <a:ext cx="3714750" cy="27146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843088"/>
            <a:ext cx="128588" cy="2071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64931" y="1843088"/>
            <a:ext cx="31932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</a:rPr>
              <a:t>Explosão do Big Data</a:t>
            </a:r>
            <a:endParaRPr lang="en-US" sz="1090" dirty="0"/>
          </a:p>
        </p:txBody>
      </p:sp>
      <p:sp>
        <p:nvSpPr>
          <p:cNvPr id="18" name="Text 12"/>
          <p:cNvSpPr/>
          <p:nvPr/>
        </p:nvSpPr>
        <p:spPr>
          <a:xfrm>
            <a:off x="5164931" y="2185988"/>
            <a:ext cx="31932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Necessidade de lidar com dados não estruturados de redes sociais, sensores e logs.</a:t>
            </a:r>
            <a:endParaRPr lang="en-US" sz="942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817484"/>
            <a:ext cx="214313" cy="20716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0656" y="2817484"/>
            <a:ext cx="31075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</a:rPr>
              <a:t>Escalabilidade Horizontal</a:t>
            </a:r>
            <a:endParaRPr lang="en-US" sz="1090" dirty="0"/>
          </a:p>
        </p:txBody>
      </p:sp>
      <p:sp>
        <p:nvSpPr>
          <p:cNvPr id="21" name="Text 14"/>
          <p:cNvSpPr/>
          <p:nvPr/>
        </p:nvSpPr>
        <p:spPr>
          <a:xfrm>
            <a:off x="5250656" y="3160384"/>
            <a:ext cx="31075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Distribuição dos dados em centenas de servidores comuns trabalhando em conjunto.</a:t>
            </a:r>
            <a:endParaRPr lang="en-US" sz="942" dirty="0"/>
          </a:p>
        </p:txBody>
      </p:sp>
      <p:sp>
        <p:nvSpPr>
          <p:cNvPr id="22" name="Shape 15"/>
          <p:cNvSpPr/>
          <p:nvPr/>
        </p:nvSpPr>
        <p:spPr>
          <a:xfrm>
            <a:off x="642938" y="4414838"/>
            <a:ext cx="7858125" cy="596503"/>
          </a:xfrm>
          <a:prstGeom prst="rect">
            <a:avLst/>
          </a:prstGeom>
          <a:solidFill>
            <a:srgbClr val="D64545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4579144"/>
            <a:ext cx="85725" cy="1143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01257" y="4557713"/>
            <a:ext cx="9049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i="1" dirty="0">
                <a:solidFill>
                  <a:srgbClr val="FFFFFF"/>
                </a:solidFill>
              </a:rPr>
              <a:t>Exemplo Prático:</a:t>
            </a:r>
            <a:endParaRPr lang="en-US" sz="784" dirty="0"/>
          </a:p>
        </p:txBody>
      </p:sp>
      <p:sp>
        <p:nvSpPr>
          <p:cNvPr id="25" name="Text 17"/>
          <p:cNvSpPr/>
          <p:nvPr/>
        </p:nvSpPr>
        <p:spPr>
          <a:xfrm>
            <a:off x="1806169" y="4557713"/>
            <a:ext cx="65437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FFFFFF"/>
                </a:solidFill>
              </a:rPr>
              <a:t>Tentar salvar bilhões de "curtidas" do Instagram em uma única tabela SQL rígida tornaria o sistema lento e caro. O NoSQL torna</a:t>
            </a:r>
            <a:endParaRPr lang="en-US" sz="834" dirty="0"/>
          </a:p>
        </p:txBody>
      </p:sp>
      <p:sp>
        <p:nvSpPr>
          <p:cNvPr id="26" name="Text 18"/>
          <p:cNvSpPr/>
          <p:nvPr/>
        </p:nvSpPr>
        <p:spPr>
          <a:xfrm>
            <a:off x="785813" y="4713089"/>
            <a:ext cx="12602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FFFFFF"/>
                </a:solidFill>
              </a:rPr>
              <a:t>isso viável e instantâneo.</a:t>
            </a:r>
            <a:endParaRPr lang="en-US" sz="834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102A43"/>
                </a:solidFill>
              </a:rPr>
              <a:t>Classificação NoSQL: 4 Tipos Principais</a:t>
            </a:r>
            <a:endParaRPr lang="en-US" sz="2226" dirty="0"/>
          </a:p>
        </p:txBody>
      </p:sp>
      <p:sp>
        <p:nvSpPr>
          <p:cNvPr id="4" name="Shape 1"/>
          <p:cNvSpPr/>
          <p:nvPr/>
        </p:nvSpPr>
        <p:spPr>
          <a:xfrm>
            <a:off x="642938" y="1000125"/>
            <a:ext cx="3821906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000125"/>
            <a:ext cx="3821906" cy="42863"/>
          </a:xfrm>
          <a:prstGeom prst="rect">
            <a:avLst/>
          </a:prstGeom>
          <a:solidFill>
            <a:srgbClr val="D6454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236762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3006" y="1214438"/>
            <a:ext cx="119855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Chave-Valor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857250" y="1616273"/>
            <a:ext cx="33932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O mais simples: armazena dados como um par chave e valor único. Ideal para cache e sessões.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857250" y="2109192"/>
            <a:ext cx="1655201" cy="226814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0" name="Text 6"/>
          <p:cNvSpPr/>
          <p:nvPr/>
        </p:nvSpPr>
        <p:spPr>
          <a:xfrm>
            <a:off x="857250" y="2109192"/>
            <a:ext cx="1655201" cy="22681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766E"/>
                </a:solidFill>
              </a:rPr>
              <a:t>Ex: Redis, Riak, DynamoDB</a:t>
            </a:r>
            <a:endParaRPr lang="en-US" sz="784" dirty="0"/>
          </a:p>
        </p:txBody>
      </p:sp>
      <p:sp>
        <p:nvSpPr>
          <p:cNvPr id="11" name="Shape 7"/>
          <p:cNvSpPr/>
          <p:nvPr/>
        </p:nvSpPr>
        <p:spPr>
          <a:xfrm>
            <a:off x="4679156" y="1000125"/>
            <a:ext cx="3821906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679156" y="1000125"/>
            <a:ext cx="3821906" cy="42863"/>
          </a:xfrm>
          <a:prstGeom prst="rect">
            <a:avLst/>
          </a:prstGeom>
          <a:solidFill>
            <a:srgbClr val="D6454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236762"/>
            <a:ext cx="17145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72075" y="1214438"/>
            <a:ext cx="126218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Documentos</a:t>
            </a:r>
            <a:endParaRPr lang="en-US" sz="1397" dirty="0"/>
          </a:p>
        </p:txBody>
      </p:sp>
      <p:sp>
        <p:nvSpPr>
          <p:cNvPr id="15" name="Text 10"/>
          <p:cNvSpPr/>
          <p:nvPr/>
        </p:nvSpPr>
        <p:spPr>
          <a:xfrm>
            <a:off x="4893469" y="1616273"/>
            <a:ext cx="33932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Armazena dados em formatos como JSON. Flexível e perfeito para desenvolvimento web moderno.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893469" y="2109192"/>
            <a:ext cx="1468431" cy="226814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7" name="Text 12"/>
          <p:cNvSpPr/>
          <p:nvPr/>
        </p:nvSpPr>
        <p:spPr>
          <a:xfrm>
            <a:off x="4893469" y="2109192"/>
            <a:ext cx="1468431" cy="22681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766E"/>
                </a:solidFill>
              </a:rPr>
              <a:t>Ex: MongoDB, CouchDB</a:t>
            </a:r>
            <a:endParaRPr lang="en-US" sz="784" dirty="0"/>
          </a:p>
        </p:txBody>
      </p:sp>
      <p:sp>
        <p:nvSpPr>
          <p:cNvPr id="18" name="Shape 13"/>
          <p:cNvSpPr/>
          <p:nvPr/>
        </p:nvSpPr>
        <p:spPr>
          <a:xfrm>
            <a:off x="642938" y="3000375"/>
            <a:ext cx="3821906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938" y="3000375"/>
            <a:ext cx="3821906" cy="42863"/>
          </a:xfrm>
          <a:prstGeom prst="rect">
            <a:avLst/>
          </a:prstGeom>
          <a:solidFill>
            <a:srgbClr val="D6454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23701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93006" y="3214688"/>
            <a:ext cx="78670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Colunar</a:t>
            </a:r>
            <a:endParaRPr lang="en-US" sz="1397" dirty="0"/>
          </a:p>
        </p:txBody>
      </p:sp>
      <p:sp>
        <p:nvSpPr>
          <p:cNvPr id="22" name="Text 16"/>
          <p:cNvSpPr/>
          <p:nvPr/>
        </p:nvSpPr>
        <p:spPr>
          <a:xfrm>
            <a:off x="857250" y="3616523"/>
            <a:ext cx="33932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Organiza dados em famílias de colunas. Excelente para análise de Big Data e leitura rápida.</a:t>
            </a:r>
            <a:endParaRPr lang="en-US" sz="942" dirty="0"/>
          </a:p>
        </p:txBody>
      </p:sp>
      <p:sp>
        <p:nvSpPr>
          <p:cNvPr id="23" name="Shape 17"/>
          <p:cNvSpPr/>
          <p:nvPr/>
        </p:nvSpPr>
        <p:spPr>
          <a:xfrm>
            <a:off x="857250" y="4109442"/>
            <a:ext cx="1345788" cy="226814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4" name="Text 18"/>
          <p:cNvSpPr/>
          <p:nvPr/>
        </p:nvSpPr>
        <p:spPr>
          <a:xfrm>
            <a:off x="857250" y="4109442"/>
            <a:ext cx="1345788" cy="22681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766E"/>
                </a:solidFill>
              </a:rPr>
              <a:t>Ex: Cassandra, HBase</a:t>
            </a:r>
            <a:endParaRPr lang="en-US" sz="784" dirty="0"/>
          </a:p>
        </p:txBody>
      </p:sp>
      <p:sp>
        <p:nvSpPr>
          <p:cNvPr id="25" name="Shape 19"/>
          <p:cNvSpPr/>
          <p:nvPr/>
        </p:nvSpPr>
        <p:spPr>
          <a:xfrm>
            <a:off x="4679156" y="3000375"/>
            <a:ext cx="3821906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4679156" y="3000375"/>
            <a:ext cx="3821906" cy="42863"/>
          </a:xfrm>
          <a:prstGeom prst="rect">
            <a:avLst/>
          </a:prstGeom>
          <a:solidFill>
            <a:srgbClr val="D64545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237012"/>
            <a:ext cx="257175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57800" y="3214688"/>
            <a:ext cx="65309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Grafos</a:t>
            </a:r>
            <a:endParaRPr lang="en-US" sz="1397" dirty="0"/>
          </a:p>
        </p:txBody>
      </p:sp>
      <p:sp>
        <p:nvSpPr>
          <p:cNvPr id="29" name="Text 22"/>
          <p:cNvSpPr/>
          <p:nvPr/>
        </p:nvSpPr>
        <p:spPr>
          <a:xfrm>
            <a:off x="4893469" y="3616523"/>
            <a:ext cx="33932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Focado em conexões e relacionamentos entre entidades. Ideal para redes sociais.</a:t>
            </a:r>
            <a:endParaRPr lang="en-US" sz="942" dirty="0"/>
          </a:p>
        </p:txBody>
      </p:sp>
      <p:sp>
        <p:nvSpPr>
          <p:cNvPr id="30" name="Shape 23"/>
          <p:cNvSpPr/>
          <p:nvPr/>
        </p:nvSpPr>
        <p:spPr>
          <a:xfrm>
            <a:off x="4893469" y="4109442"/>
            <a:ext cx="1720695" cy="226814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1" name="Text 24"/>
          <p:cNvSpPr/>
          <p:nvPr/>
        </p:nvSpPr>
        <p:spPr>
          <a:xfrm>
            <a:off x="4893469" y="4109442"/>
            <a:ext cx="1720695" cy="22681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766E"/>
                </a:solidFill>
              </a:rPr>
              <a:t>Ex: Neo4j, Amazon Neptune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</a:rPr>
              <a:t>Escalabilidade e Flexibilidade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17922" y="1109067"/>
            <a:ext cx="4000500" cy="2746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17922" y="1109067"/>
            <a:ext cx="4000500" cy="5715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34" y="1340346"/>
            <a:ext cx="225028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0138" y="1323380"/>
            <a:ext cx="2700979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102A43"/>
                </a:solidFill>
              </a:rPr>
              <a:t>Escalabilidade Horizontal</a:t>
            </a:r>
            <a:endParaRPr lang="en-US" sz="1499" dirty="0"/>
          </a:p>
        </p:txBody>
      </p:sp>
      <p:sp>
        <p:nvSpPr>
          <p:cNvPr id="8" name="Text 4"/>
          <p:cNvSpPr/>
          <p:nvPr/>
        </p:nvSpPr>
        <p:spPr>
          <a:xfrm>
            <a:off x="732234" y="1773436"/>
            <a:ext cx="31771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Em vez de um servidor gigante e caro, o NoSQL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32234" y="2002036"/>
            <a:ext cx="35688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permite adicionar vários servidores comuns em rede.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017984" y="2464594"/>
            <a:ext cx="3286125" cy="300038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Custo-benefício superior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017984" y="2764631"/>
            <a:ext cx="3286125" cy="300038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Sem limite teórico de crescimento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017984" y="3064669"/>
            <a:ext cx="3286125" cy="300038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Alta tolerância a falhas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25578" y="1109067"/>
            <a:ext cx="4000500" cy="2746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4625578" y="1109067"/>
            <a:ext cx="4000500" cy="5715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891" y="1485900"/>
            <a:ext cx="257175" cy="2571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39941" y="1323380"/>
            <a:ext cx="3171825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102A43"/>
                </a:solidFill>
              </a:rPr>
              <a:t>Esquema Flexível (Schemaless)</a:t>
            </a:r>
            <a:endParaRPr lang="en-US" sz="1499" dirty="0"/>
          </a:p>
        </p:txBody>
      </p:sp>
      <p:sp>
        <p:nvSpPr>
          <p:cNvPr id="17" name="Text 12"/>
          <p:cNvSpPr/>
          <p:nvPr/>
        </p:nvSpPr>
        <p:spPr>
          <a:xfrm>
            <a:off x="4839891" y="2064544"/>
            <a:ext cx="34537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Os dados não precisam seguir uma estrutura rígida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839891" y="2293144"/>
            <a:ext cx="18136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pré-definida desde o início.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125641" y="2755702"/>
            <a:ext cx="3286125" cy="300038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Evolução rápida do software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125641" y="3055739"/>
            <a:ext cx="3286125" cy="300038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Suporte a dados variados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125641" y="3355777"/>
            <a:ext cx="3286125" cy="300038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Sem necessidade de migrações complexas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50031" y="4084439"/>
            <a:ext cx="8643938" cy="714375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185" y="4257675"/>
            <a:ext cx="157163" cy="1571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4229" y="4227314"/>
            <a:ext cx="7389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Analogia:</a:t>
            </a:r>
            <a:endParaRPr lang="en-US" sz="1090" dirty="0"/>
          </a:p>
        </p:txBody>
      </p:sp>
      <p:sp>
        <p:nvSpPr>
          <p:cNvPr id="25" name="Text 19"/>
          <p:cNvSpPr/>
          <p:nvPr/>
        </p:nvSpPr>
        <p:spPr>
          <a:xfrm>
            <a:off x="1403217" y="4227314"/>
            <a:ext cx="72745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É a diferença entre uma planilha rígida (SQL) e uma pasta cheia de fichas onde você pode escrever</a:t>
            </a:r>
            <a:endParaRPr lang="en-US" sz="1159" dirty="0"/>
          </a:p>
        </p:txBody>
      </p:sp>
      <p:sp>
        <p:nvSpPr>
          <p:cNvPr id="26" name="Text 20"/>
          <p:cNvSpPr/>
          <p:nvPr/>
        </p:nvSpPr>
        <p:spPr>
          <a:xfrm>
            <a:off x="3249764" y="4441627"/>
            <a:ext cx="26444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o que quiser em cada uma (NoSQL).</a:t>
            </a:r>
            <a:endParaRPr lang="en-US" sz="115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</a:rPr>
              <a:t>Modelo BASE: Priorizando a Disponibilidade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64344" y="1037630"/>
            <a:ext cx="3857625" cy="2604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64344" y="1037630"/>
            <a:ext cx="3857625" cy="5715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6" name="Text 3"/>
          <p:cNvSpPr/>
          <p:nvPr/>
        </p:nvSpPr>
        <p:spPr>
          <a:xfrm>
            <a:off x="464344" y="1037630"/>
            <a:ext cx="3857625" cy="45541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</a:rPr>
              <a:t>ACID (SQL Tradicional)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678656" y="1743075"/>
            <a:ext cx="357188" cy="380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D64545"/>
                </a:solidFill>
              </a:rPr>
              <a:t>A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1035844" y="1743075"/>
            <a:ext cx="16752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02A43"/>
                </a:solidFill>
              </a:rPr>
              <a:t>Atomicidade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035844" y="1944886"/>
            <a:ext cx="16752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Tudo ou nada na transação.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78656" y="2230273"/>
            <a:ext cx="357188" cy="380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D64545"/>
                </a:solidFill>
              </a:rPr>
              <a:t>C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1035844" y="2230273"/>
            <a:ext cx="19316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02A43"/>
                </a:solidFill>
              </a:rPr>
              <a:t>Consistência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035844" y="2432084"/>
            <a:ext cx="19316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Dados válidos após a transação.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78656" y="2717471"/>
            <a:ext cx="357188" cy="380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D64545"/>
                </a:solidFill>
              </a:rPr>
              <a:t>I</a:t>
            </a:r>
            <a:endParaRPr lang="en-US" sz="1808" dirty="0"/>
          </a:p>
        </p:txBody>
      </p:sp>
      <p:sp>
        <p:nvSpPr>
          <p:cNvPr id="14" name="Text 11"/>
          <p:cNvSpPr/>
          <p:nvPr/>
        </p:nvSpPr>
        <p:spPr>
          <a:xfrm>
            <a:off x="1035844" y="2717471"/>
            <a:ext cx="21331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02A43"/>
                </a:solidFill>
              </a:rPr>
              <a:t>Isolamento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035844" y="2919282"/>
            <a:ext cx="21331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Transações não interferem entre si.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78656" y="3204670"/>
            <a:ext cx="357188" cy="380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D64545"/>
                </a:solidFill>
              </a:rPr>
              <a:t>D</a:t>
            </a:r>
            <a:endParaRPr lang="en-US" sz="1808" dirty="0"/>
          </a:p>
        </p:txBody>
      </p:sp>
      <p:sp>
        <p:nvSpPr>
          <p:cNvPr id="17" name="Text 14"/>
          <p:cNvSpPr/>
          <p:nvPr/>
        </p:nvSpPr>
        <p:spPr>
          <a:xfrm>
            <a:off x="1035844" y="3204670"/>
            <a:ext cx="2283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02A43"/>
                </a:solidFill>
              </a:rPr>
              <a:t>Durabilidade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1035844" y="3406480"/>
            <a:ext cx="2283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Dados persistidos permanentemente.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822031" y="1037630"/>
            <a:ext cx="3857625" cy="25470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822031" y="1037630"/>
            <a:ext cx="385762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8"/>
          <p:cNvSpPr/>
          <p:nvPr/>
        </p:nvSpPr>
        <p:spPr>
          <a:xfrm>
            <a:off x="4822031" y="1037630"/>
            <a:ext cx="3857625" cy="45541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</a:rPr>
              <a:t>BASE (NoSQL Moderno)</a:t>
            </a:r>
            <a:endParaRPr lang="en-US" sz="1602" dirty="0"/>
          </a:p>
        </p:txBody>
      </p:sp>
      <p:sp>
        <p:nvSpPr>
          <p:cNvPr id="22" name="Text 19"/>
          <p:cNvSpPr/>
          <p:nvPr/>
        </p:nvSpPr>
        <p:spPr>
          <a:xfrm>
            <a:off x="5036344" y="1743075"/>
            <a:ext cx="357188" cy="380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766E"/>
                </a:solidFill>
              </a:rPr>
              <a:t>BA</a:t>
            </a:r>
            <a:endParaRPr lang="en-US" sz="1808" dirty="0"/>
          </a:p>
        </p:txBody>
      </p:sp>
      <p:sp>
        <p:nvSpPr>
          <p:cNvPr id="23" name="Text 20"/>
          <p:cNvSpPr/>
          <p:nvPr/>
        </p:nvSpPr>
        <p:spPr>
          <a:xfrm>
            <a:off x="5393531" y="1743075"/>
            <a:ext cx="260841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02A43"/>
                </a:solidFill>
              </a:rPr>
              <a:t>Basically Available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5393531" y="1944886"/>
            <a:ext cx="26084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O sistema prioriza estar sempre disponível.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5036344" y="2230273"/>
            <a:ext cx="357188" cy="380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766E"/>
                </a:solidFill>
              </a:rPr>
              <a:t>S</a:t>
            </a:r>
            <a:endParaRPr lang="en-US" sz="1808" dirty="0"/>
          </a:p>
        </p:txBody>
      </p:sp>
      <p:sp>
        <p:nvSpPr>
          <p:cNvPr id="26" name="Text 23"/>
          <p:cNvSpPr/>
          <p:nvPr/>
        </p:nvSpPr>
        <p:spPr>
          <a:xfrm>
            <a:off x="5393531" y="2230273"/>
            <a:ext cx="26458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02A43"/>
                </a:solidFill>
              </a:rPr>
              <a:t>Soft State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5393531" y="2432084"/>
            <a:ext cx="26458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O estado pode mudar sem entrada externa.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5036344" y="2717471"/>
            <a:ext cx="357188" cy="380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766E"/>
                </a:solidFill>
              </a:rPr>
              <a:t>E</a:t>
            </a:r>
            <a:endParaRPr lang="en-US" sz="1808" dirty="0"/>
          </a:p>
        </p:txBody>
      </p:sp>
      <p:sp>
        <p:nvSpPr>
          <p:cNvPr id="29" name="Text 26"/>
          <p:cNvSpPr/>
          <p:nvPr/>
        </p:nvSpPr>
        <p:spPr>
          <a:xfrm>
            <a:off x="5393531" y="2717471"/>
            <a:ext cx="23990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02A43"/>
                </a:solidFill>
              </a:rPr>
              <a:t>Eventual Consistency</a:t>
            </a:r>
            <a:endParaRPr lang="en-US" sz="987" dirty="0"/>
          </a:p>
        </p:txBody>
      </p:sp>
      <p:sp>
        <p:nvSpPr>
          <p:cNvPr id="30" name="Text 27"/>
          <p:cNvSpPr/>
          <p:nvPr/>
        </p:nvSpPr>
        <p:spPr>
          <a:xfrm>
            <a:off x="5393531" y="2919282"/>
            <a:ext cx="23990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Consistência garantida após um tempo.</a:t>
            </a:r>
            <a:endParaRPr lang="en-US" sz="942" dirty="0"/>
          </a:p>
        </p:txBody>
      </p:sp>
      <p:sp>
        <p:nvSpPr>
          <p:cNvPr id="31" name="Shape 28"/>
          <p:cNvSpPr/>
          <p:nvPr/>
        </p:nvSpPr>
        <p:spPr>
          <a:xfrm>
            <a:off x="250031" y="3799024"/>
            <a:ext cx="8643938" cy="596503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3963330"/>
            <a:ext cx="114300" cy="1143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08363" y="3941899"/>
            <a:ext cx="6269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Na Prática:</a:t>
            </a:r>
            <a:endParaRPr lang="en-US" sz="784" dirty="0"/>
          </a:p>
        </p:txBody>
      </p:sp>
      <p:sp>
        <p:nvSpPr>
          <p:cNvPr id="34" name="Text 30"/>
          <p:cNvSpPr/>
          <p:nvPr/>
        </p:nvSpPr>
        <p:spPr>
          <a:xfrm>
            <a:off x="1235311" y="3941899"/>
            <a:ext cx="74410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Quando você posta uma foto, ela pode demorar alguns segundos para aparecer para todos os seus amigos (Consistência Eventual), mas o</a:t>
            </a:r>
            <a:endParaRPr lang="en-US" sz="834" dirty="0"/>
          </a:p>
        </p:txBody>
      </p:sp>
      <p:sp>
        <p:nvSpPr>
          <p:cNvPr id="35" name="Text 31"/>
          <p:cNvSpPr/>
          <p:nvPr/>
        </p:nvSpPr>
        <p:spPr>
          <a:xfrm>
            <a:off x="464344" y="4097275"/>
            <a:ext cx="35069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sistema nunca para de aceitar novas postagens (Disponibilidade).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</a:rPr>
              <a:t>Bancos de Documentos: O Coração da Web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1287661"/>
            <a:ext cx="150019" cy="235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238" y="1287661"/>
            <a:ext cx="36361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</a:rPr>
              <a:t>Armazenamento Flexível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757238" y="1657350"/>
            <a:ext cx="3636169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34E68"/>
                </a:solidFill>
              </a:rPr>
              <a:t>Dados são guardados em documentos (JSON ou BSON) sem a necessidade de um esquema rígido pré-definido.</a:t>
            </a:r>
            <a:endParaRPr lang="en-US" sz="99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4" y="2378869"/>
            <a:ext cx="200025" cy="235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7244" y="2378869"/>
            <a:ext cx="35861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</a:rPr>
              <a:t>Dados Semiestruturados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807244" y="2748558"/>
            <a:ext cx="358616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34E68"/>
                </a:solidFill>
              </a:rPr>
              <a:t>Perfeito para informações que variam de registro para registro, como perfis de usuários ou catálogos.</a:t>
            </a:r>
            <a:endParaRPr lang="en-US" sz="996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4" y="3470077"/>
            <a:ext cx="200025" cy="235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7244" y="3470077"/>
            <a:ext cx="35861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</a:rPr>
              <a:t>Consultas Poderosas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807244" y="3839766"/>
            <a:ext cx="358616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34E68"/>
                </a:solidFill>
              </a:rPr>
              <a:t>Facilita a recuperação de dados complexos e aninhados em uma única operação, sem "Joins" custosos.</a:t>
            </a:r>
            <a:endParaRPr lang="en-US" sz="996" dirty="0"/>
          </a:p>
        </p:txBody>
      </p:sp>
      <p:sp>
        <p:nvSpPr>
          <p:cNvPr id="13" name="Text 7"/>
          <p:cNvSpPr/>
          <p:nvPr/>
        </p:nvSpPr>
        <p:spPr>
          <a:xfrm>
            <a:off x="4750594" y="1109067"/>
            <a:ext cx="3929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F766E"/>
                </a:solidFill>
              </a:rPr>
              <a:t>Exemplo de Documento JSON</a:t>
            </a:r>
            <a:endParaRPr lang="en-US" sz="784" dirty="0"/>
          </a:p>
        </p:txBody>
      </p:sp>
      <p:sp>
        <p:nvSpPr>
          <p:cNvPr id="14" name="Shape 8"/>
          <p:cNvSpPr/>
          <p:nvPr/>
        </p:nvSpPr>
        <p:spPr>
          <a:xfrm>
            <a:off x="4750594" y="1371600"/>
            <a:ext cx="3929063" cy="3071813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5" name="Shape 9"/>
          <p:cNvSpPr/>
          <p:nvPr/>
        </p:nvSpPr>
        <p:spPr>
          <a:xfrm>
            <a:off x="4750594" y="1371600"/>
            <a:ext cx="57150" cy="3071813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6" name="Text 10"/>
          <p:cNvSpPr/>
          <p:nvPr/>
        </p:nvSpPr>
        <p:spPr>
          <a:xfrm>
            <a:off x="4750594" y="1371600"/>
            <a:ext cx="3929063" cy="3071813"/>
          </a:xfrm>
          <a:prstGeom prst="rect">
            <a:avLst/>
          </a:prstGeom>
          <a:noFill/>
          <a:ln/>
        </p:spPr>
        <p:txBody>
          <a:bodyPr wrap="square" lIns="255143" tIns="255143" rIns="255143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0F4F8"/>
                </a:solidFill>
              </a:rPr>
              <a:t>{ </a:t>
            </a:r>
            <a:r>
              <a:rPr lang="en-US" sz="942" dirty="0">
                <a:solidFill>
                  <a:srgbClr val="D64545"/>
                </a:solidFill>
              </a:rPr>
              <a:t>"_id"</a:t>
            </a:r>
            <a:r>
              <a:rPr lang="en-US" sz="942" dirty="0">
                <a:solidFill>
                  <a:srgbClr val="F0F4F8"/>
                </a:solidFill>
              </a:rPr>
              <a:t>: 101, </a:t>
            </a:r>
            <a:r>
              <a:rPr lang="en-US" sz="942" dirty="0">
                <a:solidFill>
                  <a:srgbClr val="D64545"/>
                </a:solidFill>
              </a:rPr>
              <a:t>"nome"</a:t>
            </a:r>
            <a:r>
              <a:rPr lang="en-US" sz="942" dirty="0">
                <a:solidFill>
                  <a:srgbClr val="F0F4F8"/>
                </a:solidFill>
              </a:rPr>
              <a:t>: </a:t>
            </a:r>
            <a:r>
              <a:rPr lang="en-US" sz="942" dirty="0">
                <a:solidFill>
                  <a:srgbClr val="0F766E"/>
                </a:solidFill>
              </a:rPr>
              <a:t>"João Silva"</a:t>
            </a:r>
            <a:r>
              <a:rPr lang="en-US" sz="942" dirty="0">
                <a:solidFill>
                  <a:srgbClr val="F0F4F8"/>
                </a:solidFill>
              </a:rPr>
              <a:t>, </a:t>
            </a:r>
            <a:r>
              <a:rPr lang="en-US" sz="942" dirty="0">
                <a:solidFill>
                  <a:srgbClr val="D64545"/>
                </a:solidFill>
              </a:rPr>
              <a:t>"interesses"</a:t>
            </a:r>
            <a:r>
              <a:rPr lang="en-US" sz="942" dirty="0">
                <a:solidFill>
                  <a:srgbClr val="F0F4F8"/>
                </a:solidFill>
              </a:rPr>
              <a:t>: [ </a:t>
            </a:r>
            <a:r>
              <a:rPr lang="en-US" sz="942" dirty="0">
                <a:solidFill>
                  <a:srgbClr val="0F766E"/>
                </a:solidFill>
              </a:rPr>
              <a:t>"tecnologia"</a:t>
            </a:r>
            <a:r>
              <a:rPr lang="en-US" sz="942" dirty="0">
                <a:solidFill>
                  <a:srgbClr val="F0F4F8"/>
                </a:solidFill>
              </a:rPr>
              <a:t>, </a:t>
            </a:r>
            <a:r>
              <a:rPr lang="en-US" sz="942" dirty="0">
                <a:solidFill>
                  <a:srgbClr val="0F766E"/>
                </a:solidFill>
              </a:rPr>
              <a:t>"música"</a:t>
            </a:r>
            <a:r>
              <a:rPr lang="en-US" sz="942" dirty="0">
                <a:solidFill>
                  <a:srgbClr val="F0F4F8"/>
                </a:solidFill>
              </a:rPr>
              <a:t> ], </a:t>
            </a:r>
            <a:r>
              <a:rPr lang="en-US" sz="942" dirty="0">
                <a:solidFill>
                  <a:srgbClr val="D64545"/>
                </a:solidFill>
              </a:rPr>
              <a:t>"endereco"</a:t>
            </a:r>
            <a:r>
              <a:rPr lang="en-US" sz="942" dirty="0">
                <a:solidFill>
                  <a:srgbClr val="F0F4F8"/>
                </a:solidFill>
              </a:rPr>
              <a:t>: { </a:t>
            </a:r>
            <a:r>
              <a:rPr lang="en-US" sz="942" dirty="0">
                <a:solidFill>
                  <a:srgbClr val="D64545"/>
                </a:solidFill>
              </a:rPr>
              <a:t>"cidade"</a:t>
            </a:r>
            <a:r>
              <a:rPr lang="en-US" sz="942" dirty="0">
                <a:solidFill>
                  <a:srgbClr val="F0F4F8"/>
                </a:solidFill>
              </a:rPr>
              <a:t>: </a:t>
            </a:r>
            <a:r>
              <a:rPr lang="en-US" sz="942" dirty="0">
                <a:solidFill>
                  <a:srgbClr val="0F766E"/>
                </a:solidFill>
              </a:rPr>
              <a:t>"São Paulo"</a:t>
            </a:r>
            <a:r>
              <a:rPr lang="en-US" sz="942" dirty="0">
                <a:solidFill>
                  <a:srgbClr val="F0F4F8"/>
                </a:solidFill>
              </a:rPr>
              <a:t>, </a:t>
            </a:r>
            <a:r>
              <a:rPr lang="en-US" sz="942" dirty="0">
                <a:solidFill>
                  <a:srgbClr val="D64545"/>
                </a:solidFill>
              </a:rPr>
              <a:t>"uf"</a:t>
            </a:r>
            <a:r>
              <a:rPr lang="en-US" sz="942" dirty="0">
                <a:solidFill>
                  <a:srgbClr val="F0F4F8"/>
                </a:solidFill>
              </a:rPr>
              <a:t>: </a:t>
            </a:r>
            <a:r>
              <a:rPr lang="en-US" sz="942" dirty="0">
                <a:solidFill>
                  <a:srgbClr val="0F766E"/>
                </a:solidFill>
              </a:rPr>
              <a:t>"SP"</a:t>
            </a:r>
            <a:r>
              <a:rPr lang="en-US" sz="942" dirty="0">
                <a:solidFill>
                  <a:srgbClr val="F0F4F8"/>
                </a:solidFill>
              </a:rPr>
              <a:t> } }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</a:rPr>
              <a:t>Agilidade e Performance com Documentos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64344" y="1323380"/>
            <a:ext cx="2738428" cy="2628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64344" y="1323380"/>
            <a:ext cx="2738428" cy="5715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525" y="1609130"/>
            <a:ext cx="300038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2330648"/>
            <a:ext cx="238124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Agilidade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642938" y="2746772"/>
            <a:ext cx="238124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O dado no código é quase idêntico ao dado no banco. Menos tempo mapeando tabelas e mais tempo criando funcionalidades.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3202772" y="1323380"/>
            <a:ext cx="2738428" cy="2628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3202772" y="1323380"/>
            <a:ext cx="2738428" cy="5715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091" y="1609130"/>
            <a:ext cx="385763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81366" y="2330648"/>
            <a:ext cx="238124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Performance</a:t>
            </a: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3381366" y="2746772"/>
            <a:ext cx="238124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Dados relacionados ficam juntos no mesmo documento. Isso elimina a necessidade de "Joins" lentos e complexos.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5941200" y="1323380"/>
            <a:ext cx="2738428" cy="2628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5941200" y="1323380"/>
            <a:ext cx="2738428" cy="5715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8950" y="160913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19794" y="2330648"/>
            <a:ext cx="238124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Versatilidade</a:t>
            </a:r>
            <a:endParaRPr lang="en-US" sz="1397" dirty="0"/>
          </a:p>
        </p:txBody>
      </p:sp>
      <p:sp>
        <p:nvSpPr>
          <p:cNvPr id="18" name="Text 12"/>
          <p:cNvSpPr/>
          <p:nvPr/>
        </p:nvSpPr>
        <p:spPr>
          <a:xfrm>
            <a:off x="6119794" y="2746772"/>
            <a:ext cx="238124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Ideal para catálogos de produtos, perfis de usuários e sistemas de conteúdo que mudam constantemente.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464344" y="4323755"/>
            <a:ext cx="8215313" cy="59114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0" name="Text 14"/>
          <p:cNvSpPr/>
          <p:nvPr/>
        </p:nvSpPr>
        <p:spPr>
          <a:xfrm>
            <a:off x="464344" y="4323755"/>
            <a:ext cx="8215313" cy="591145"/>
          </a:xfrm>
          <a:prstGeom prst="rect">
            <a:avLst/>
          </a:prstGeom>
          <a:noFill/>
          <a:ln/>
        </p:spPr>
        <p:txBody>
          <a:bodyPr wrap="square" lIns="0" tIns="212598" rIns="0" bIns="21259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766E"/>
                </a:solidFill>
              </a:rPr>
              <a:t>Líder de Mercado na Categoria: MongoDB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635</Words>
  <Application>Microsoft Office PowerPoint</Application>
  <PresentationFormat>Apresentação na tela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henriqueta_4@hotmail.com</cp:lastModifiedBy>
  <cp:revision>4</cp:revision>
  <dcterms:created xsi:type="dcterms:W3CDTF">2026-02-24T19:38:07Z</dcterms:created>
  <dcterms:modified xsi:type="dcterms:W3CDTF">2026-02-25T22:40:56Z</dcterms:modified>
</cp:coreProperties>
</file>